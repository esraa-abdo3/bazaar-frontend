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9B5DE5">
              <a:alpha val="12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UNIT 3 • GENETICS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 Traits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Mutations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Chromosomes · DNA · Genes · Hereditary Traits · Types of Mutations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</a:rPr>
              <a:t>Lesson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03920" y="457200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8732520" y="1005840"/>
            <a:ext cx="109728" cy="10972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1554480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8732520" y="2103120"/>
            <a:ext cx="109728" cy="10972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2651760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Shape 14"/>
          <p:cNvSpPr/>
          <p:nvPr/>
        </p:nvSpPr>
        <p:spPr>
          <a:xfrm>
            <a:off x="8732520" y="3200400"/>
            <a:ext cx="109728" cy="10972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3749040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Shape 16"/>
          <p:cNvSpPr/>
          <p:nvPr/>
        </p:nvSpPr>
        <p:spPr>
          <a:xfrm>
            <a:off x="8732520" y="4297680"/>
            <a:ext cx="109728" cy="109728"/>
          </a:xfrm>
          <a:prstGeom prst="ellipse">
            <a:avLst/>
          </a:prstGeom>
          <a:solidFill>
            <a:srgbClr val="06D6A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Traits &amp; Behaviours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122333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2788920" cy="594360"/>
          </a:xfrm>
          <a:prstGeom prst="roundRect">
            <a:avLst>
              <a:gd name="adj" fmla="val 18462"/>
            </a:avLst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463040"/>
            <a:ext cx="2788920" cy="228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97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 Traits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" y="1828800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" y="178308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Transmitted from parents to offspring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" y="2450592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" y="240487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without learning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" y="3072384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" y="302666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from generation to generation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3192" y="3694176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" y="364845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hair colour, eye colour, short legs of Arctic fox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109728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122333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097280"/>
            <a:ext cx="2788920" cy="594360"/>
          </a:xfrm>
          <a:prstGeom prst="roundRect">
            <a:avLst>
              <a:gd name="adj" fmla="val 18462"/>
            </a:avLst>
          </a:prstGeom>
          <a:solidFill>
            <a:srgbClr val="F4A261"/>
          </a:solidFill>
          <a:ln/>
        </p:spPr>
      </p:sp>
      <p:sp>
        <p:nvSpPr>
          <p:cNvPr id="18" name="Shape 16"/>
          <p:cNvSpPr/>
          <p:nvPr/>
        </p:nvSpPr>
        <p:spPr>
          <a:xfrm>
            <a:off x="3246120" y="1463040"/>
            <a:ext cx="2788920" cy="228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097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Acquired Traits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10712" y="1828800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3575304" y="178308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inherited from parents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10712" y="245059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3575304" y="240487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from the environment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10712" y="3072384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/>
          <p:nvPr/>
        </p:nvSpPr>
        <p:spPr>
          <a:xfrm>
            <a:off x="3575304" y="3026664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learning or training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10712" y="3694176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3575304" y="3648456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passed to next generation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10712" y="4315968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3575304" y="4270248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child walking, sports muscles, dolphin tricks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109728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122333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1097280"/>
            <a:ext cx="2788920" cy="594360"/>
          </a:xfrm>
          <a:prstGeom prst="roundRect">
            <a:avLst>
              <a:gd name="adj" fmla="val 18462"/>
            </a:avLst>
          </a:prstGeom>
          <a:solidFill>
            <a:srgbClr val="06D6A0"/>
          </a:solidFill>
          <a:ln/>
        </p:spPr>
      </p:sp>
      <p:sp>
        <p:nvSpPr>
          <p:cNvPr id="32" name="Shape 30"/>
          <p:cNvSpPr/>
          <p:nvPr/>
        </p:nvSpPr>
        <p:spPr>
          <a:xfrm>
            <a:off x="6263640" y="1463040"/>
            <a:ext cx="2788920" cy="2286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10972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Instinctive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28232" y="1828800"/>
            <a:ext cx="109728" cy="10972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5" name="Text 33"/>
          <p:cNvSpPr/>
          <p:nvPr/>
        </p:nvSpPr>
        <p:spPr>
          <a:xfrm>
            <a:off x="6592824" y="178308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Behaviours &amp; skills transmitted without learning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28232" y="2450592"/>
            <a:ext cx="109728" cy="10972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7" name="Text 35"/>
          <p:cNvSpPr/>
          <p:nvPr/>
        </p:nvSpPr>
        <p:spPr>
          <a:xfrm>
            <a:off x="6592824" y="2404872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bat sleeping upside down, chicken laying eggs, squirrel breaking hazelnut shells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Chromosomes &amp; Transmission of Genetic Traits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63050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Chromosomes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Thread-like bodies in the cell nucleus that carry genetic material and transmit hereditary traits from parents to offspring.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670048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6334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 of eukaryotes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91440" cy="914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9077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Cytoplasm of prokaryotes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122333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of Chromosomes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508760"/>
          <a:ext cx="4114800" cy="118872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Corn plant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Chromosomes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B5D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3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274320" y="3154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74320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Father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810512" y="3383280"/>
            <a:ext cx="1371600" cy="0"/>
          </a:xfrm>
          <a:prstGeom prst="line">
            <a:avLst/>
          </a:prstGeom>
          <a:noFill/>
          <a:ln w="19050">
            <a:solidFill>
              <a:srgbClr val="8ECAE6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1810512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CAE6"/>
                </a:solidFill>
              </a:rPr>
              <a:t>½ chromosomes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712464" y="3154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6D6A0">
              <a:alpha val="2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712464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Offspring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248656" y="3383280"/>
            <a:ext cx="1371600" cy="0"/>
          </a:xfrm>
          <a:prstGeom prst="line">
            <a:avLst/>
          </a:prstGeom>
          <a:noFill/>
          <a:ln w="19050">
            <a:solidFill>
              <a:srgbClr val="8ECAE6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5248656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CAE6"/>
                </a:solidFill>
              </a:rPr>
              <a:t>½ chromosomes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150608" y="3154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4A261">
              <a:alpha val="25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7150608" y="3154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Mother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74320" y="3794760"/>
            <a:ext cx="8595360" cy="822960"/>
          </a:xfrm>
          <a:prstGeom prst="roundRect">
            <a:avLst>
              <a:gd name="adj" fmla="val 11111"/>
            </a:avLst>
          </a:prstGeom>
          <a:solidFill>
            <a:srgbClr val="163050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379476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Reproduction: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vital process that produces new individuals (offspring) resembling their parents.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Chromosomes &amp; DNA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114800" cy="2331720"/>
          </a:xfrm>
          <a:prstGeom prst="roundRect">
            <a:avLst>
              <a:gd name="adj" fmla="val 3922"/>
            </a:avLst>
          </a:prstGeom>
          <a:solidFill>
            <a:srgbClr val="122333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General Composition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00B4D8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Chromosome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1508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chromatids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130552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00B4D8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130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Chromatid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21305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of the chromosome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752344"/>
            <a:ext cx="1234440" cy="274320"/>
          </a:xfrm>
          <a:prstGeom prst="roundRect">
            <a:avLst>
              <a:gd name="adj" fmla="val 16667"/>
            </a:avLst>
          </a:prstGeom>
          <a:solidFill>
            <a:srgbClr val="00B4D8">
              <a:alpha val="2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7523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Centromere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75234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point joining the two chromatids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1051560"/>
            <a:ext cx="4297680" cy="2331720"/>
          </a:xfrm>
          <a:prstGeom prst="roundRect">
            <a:avLst>
              <a:gd name="adj" fmla="val 3922"/>
            </a:avLst>
          </a:prstGeom>
          <a:solidFill>
            <a:srgbClr val="122333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Chemical Composition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1481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Chromosomes are chemically composed of: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1801368"/>
            <a:ext cx="1874520" cy="530352"/>
          </a:xfrm>
          <a:prstGeom prst="roundRect">
            <a:avLst>
              <a:gd name="adj" fmla="val 17241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80136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Nucleic Acid (DNA)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1801368"/>
            <a:ext cx="1874520" cy="530352"/>
          </a:xfrm>
          <a:prstGeom prst="roundRect">
            <a:avLst>
              <a:gd name="adj" fmla="val 17241"/>
            </a:avLst>
          </a:prstGeom>
          <a:solidFill>
            <a:srgbClr val="F4A261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80136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Protein (Histone)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3456432"/>
            <a:ext cx="9144000" cy="18288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" y="3547872"/>
            <a:ext cx="2788920" cy="1280160"/>
          </a:xfrm>
          <a:prstGeom prst="roundRect">
            <a:avLst>
              <a:gd name="adj" fmla="val 7143"/>
            </a:avLst>
          </a:prstGeom>
          <a:solidFill>
            <a:srgbClr val="16305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547872"/>
            <a:ext cx="2788920" cy="347472"/>
          </a:xfrm>
          <a:prstGeom prst="roundRect">
            <a:avLst>
              <a:gd name="adj" fmla="val 26316"/>
            </a:avLst>
          </a:prstGeom>
          <a:solidFill>
            <a:srgbClr val="00B4D8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" y="3785616"/>
            <a:ext cx="2788920" cy="109728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5478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Gene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39319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of DNA responsible for expressing a hereditary trait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72968" y="3547872"/>
            <a:ext cx="2788920" cy="1280160"/>
          </a:xfrm>
          <a:prstGeom prst="roundRect">
            <a:avLst>
              <a:gd name="adj" fmla="val 7143"/>
            </a:avLst>
          </a:prstGeom>
          <a:solidFill>
            <a:srgbClr val="16305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3547872"/>
            <a:ext cx="2788920" cy="347472"/>
          </a:xfrm>
          <a:prstGeom prst="roundRect">
            <a:avLst>
              <a:gd name="adj" fmla="val 26316"/>
            </a:avLst>
          </a:prstGeom>
          <a:solidFill>
            <a:srgbClr val="06D6A0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172968" y="3785616"/>
            <a:ext cx="2788920" cy="109728"/>
          </a:xfrm>
          <a:prstGeom prst="rect">
            <a:avLst/>
          </a:prstGeom>
          <a:solidFill>
            <a:srgbClr val="06D6A0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218688" y="35478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Nucleotide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64408" y="39319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building unit of the nucleic acid DNA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17336" y="3547872"/>
            <a:ext cx="2788920" cy="1280160"/>
          </a:xfrm>
          <a:prstGeom prst="roundRect">
            <a:avLst>
              <a:gd name="adj" fmla="val 7143"/>
            </a:avLst>
          </a:prstGeom>
          <a:solidFill>
            <a:srgbClr val="16305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17336" y="3547872"/>
            <a:ext cx="2788920" cy="347472"/>
          </a:xfrm>
          <a:prstGeom prst="roundRect">
            <a:avLst>
              <a:gd name="adj" fmla="val 26316"/>
            </a:avLst>
          </a:prstGeom>
          <a:solidFill>
            <a:srgbClr val="9B5DE5">
              <a:alpha val="4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117336" y="3785616"/>
            <a:ext cx="2788920" cy="109728"/>
          </a:xfrm>
          <a:prstGeom prst="rect">
            <a:avLst/>
          </a:prstGeom>
          <a:solidFill>
            <a:srgbClr val="9B5DE5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163056" y="354787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5DE5"/>
                </a:solidFill>
              </a:rPr>
              <a:t>Double Helix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08776" y="39319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nucleotide strands twisted around each other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Genes in Hereditary Traits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12233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789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Beadle &amp; Tatum — One Gene, One Enzyme Hypothesis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 produces a specific enzyme → responsible for a chemical reaction → forms a protein → expresses a specific hereditary trait.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278892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2788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Gene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73352" y="3090672"/>
            <a:ext cx="2560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9992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65960" y="278892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63050"/>
          </a:solidFill>
          <a:ln/>
        </p:spPr>
      </p:sp>
      <p:sp>
        <p:nvSpPr>
          <p:cNvPr id="12" name="Text 10"/>
          <p:cNvSpPr/>
          <p:nvPr/>
        </p:nvSpPr>
        <p:spPr>
          <a:xfrm>
            <a:off x="1965960" y="2788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0E0EF"/>
                </a:solidFill>
              </a:rPr>
              <a:t>Enzyme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10712" y="3090672"/>
            <a:ext cx="2560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9992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03320" y="278892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63050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2788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0E0EF"/>
                </a:solidFill>
              </a:rPr>
              <a:t>Chemical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0E0EF"/>
                </a:solidFill>
              </a:rPr>
              <a:t>Reaction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48072" y="3090672"/>
            <a:ext cx="2560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9992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0680" y="278892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163050"/>
          </a:solidFill>
          <a:ln/>
        </p:spPr>
      </p:sp>
      <p:sp>
        <p:nvSpPr>
          <p:cNvPr id="20" name="Text 18"/>
          <p:cNvSpPr/>
          <p:nvPr/>
        </p:nvSpPr>
        <p:spPr>
          <a:xfrm>
            <a:off x="5440680" y="2788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0E0EF"/>
                </a:solidFill>
              </a:rPr>
              <a:t>Protein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85432" y="3090672"/>
            <a:ext cx="256032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6600" y="29992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78040" y="2788920"/>
            <a:ext cx="1417320" cy="594360"/>
          </a:xfrm>
          <a:prstGeom prst="roundRect">
            <a:avLst>
              <a:gd name="adj" fmla="val 12308"/>
            </a:avLst>
          </a:prstGeom>
          <a:solidFill>
            <a:srgbClr val="06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2788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Hereditary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Trait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051560"/>
            <a:ext cx="4206240" cy="3840480"/>
          </a:xfrm>
          <a:prstGeom prst="roundRect">
            <a:avLst>
              <a:gd name="adj" fmla="val 2381"/>
            </a:avLst>
          </a:prstGeom>
          <a:solidFill>
            <a:srgbClr val="163050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143000"/>
            <a:ext cx="1188720" cy="118872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1887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846320" y="23774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Gregor Mendel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6320" y="2743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Genetics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127248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090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Austrian scientist born in 1822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3547872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51129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8 years of experiments on 24,000 pea plants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3968496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931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Concluded each hereditary trait is controlled by a pair of genetic factors (genes)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4389120"/>
            <a:ext cx="91440" cy="914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435254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modern genetics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" y="3493008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511296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Genetics: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studying the transmission of genetic traits from parents to offspring.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00B4D8">
              <a:alpha val="8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Mutations — What Are They?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1417320"/>
          </a:xfrm>
          <a:prstGeom prst="roundRect">
            <a:avLst>
              <a:gd name="adj" fmla="val 7742"/>
            </a:avLst>
          </a:prstGeom>
          <a:solidFill>
            <a:srgbClr val="163050"/>
          </a:solidFill>
          <a:ln/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8321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 </a:t>
            </a:r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emergence of a new hereditary trait that did not previously exist, as a result of a change in the nature of the gene responsible for it — specifically a change in the arrangement of nucleotides on DNA.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265176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22333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6791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9992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in the arrangement of nucleotides composing the gene → new trait that did not previously exist.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651760"/>
            <a:ext cx="4297680" cy="1005840"/>
          </a:xfrm>
          <a:prstGeom prst="roundRect">
            <a:avLst>
              <a:gd name="adj" fmla="val 9091"/>
            </a:avLst>
          </a:prstGeom>
          <a:solidFill>
            <a:srgbClr val="122333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3063240"/>
            <a:ext cx="109728" cy="10972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30175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of huge types of cows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3383280"/>
            <a:ext cx="109728" cy="109728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3337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of an individual with six fingers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3730752"/>
            <a:ext cx="9144000" cy="18288"/>
          </a:xfrm>
          <a:prstGeom prst="rect">
            <a:avLst/>
          </a:prstGeom>
          <a:solidFill>
            <a:srgbClr val="00B4D8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7856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ECAE6"/>
                </a:solidFill>
              </a:rPr>
              <a:t>MUTATIONS ARE CLASSIFIED BY: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1148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00B4D8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1330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 / Induced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09160" y="41148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F4A261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413308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/ Beneficial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Mutations — By Origin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3886200"/>
          </a:xfrm>
          <a:prstGeom prst="roundRect">
            <a:avLst>
              <a:gd name="adj" fmla="val 2824"/>
            </a:avLst>
          </a:prstGeom>
          <a:solidFill>
            <a:srgbClr val="122333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463040"/>
            <a:ext cx="4206240" cy="228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Spontaneous Mutations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3931920" cy="548640"/>
          </a:xfrm>
          <a:prstGeom prst="roundRect">
            <a:avLst>
              <a:gd name="adj" fmla="val 11667"/>
            </a:avLst>
          </a:prstGeom>
          <a:solidFill>
            <a:srgbClr val="00B4D8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647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that occur naturally without human intervention.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591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/ No human intervention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633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" y="2990088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0779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Albinism:</a:t>
            </a:r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dark-skinned mother giving birth to an albino child.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3192" y="3584448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021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colour change:</a:t>
            </a:r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Light skin in individuals in cold countries helps them absorb vitamin D better.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206240" cy="3886200"/>
          </a:xfrm>
          <a:prstGeom prst="roundRect">
            <a:avLst>
              <a:gd name="adj" fmla="val 2824"/>
            </a:avLst>
          </a:prstGeom>
          <a:solidFill>
            <a:srgbClr val="122333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F4A261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1463040"/>
            <a:ext cx="4206240" cy="228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10515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Induced Mutations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1764792"/>
            <a:ext cx="3931920" cy="548640"/>
          </a:xfrm>
          <a:prstGeom prst="roundRect">
            <a:avLst>
              <a:gd name="adj" fmla="val 11667"/>
            </a:avLst>
          </a:prstGeom>
          <a:solidFill>
            <a:srgbClr val="F4A261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7647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that occur through human intervention.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3591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human intervention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2633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73752" y="2990088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90779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Featherless chickens:</a:t>
            </a:r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Reduces energy used in air conditioning in hot-region farms.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73752" y="3410712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32841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Seedless fruits:</a:t>
            </a:r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Production of seedless lemon and other fruits.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73752" y="3831336"/>
            <a:ext cx="109728" cy="10972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374904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Rust-resistant wheat:</a:t>
            </a:r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Plants resistant to wheat rust disease.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43400" y="2560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CAE6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Mutations — By Impact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160520" cy="3886200"/>
          </a:xfrm>
          <a:prstGeom prst="roundRect">
            <a:avLst>
              <a:gd name="adj" fmla="val 2824"/>
            </a:avLst>
          </a:prstGeom>
          <a:solidFill>
            <a:srgbClr val="122333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463040"/>
            <a:ext cx="4160520" cy="21031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5156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Harmful Mutations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3886200" cy="502920"/>
          </a:xfrm>
          <a:prstGeom prst="roundRect">
            <a:avLst>
              <a:gd name="adj" fmla="val 12727"/>
            </a:avLst>
          </a:prstGeom>
          <a:solidFill>
            <a:srgbClr val="EF233C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37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appearance of new undesirable traits — some may lead to death.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3886200" cy="1097280"/>
          </a:xfrm>
          <a:prstGeom prst="roundRect">
            <a:avLst>
              <a:gd name="adj" fmla="val 6667"/>
            </a:avLst>
          </a:prstGeom>
          <a:solidFill>
            <a:srgbClr val="16305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774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Spinal Deformity (Curved Spine)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72491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curvature of the spine — a visible structural change.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3886200" cy="1097280"/>
          </a:xfrm>
          <a:prstGeom prst="roundRect">
            <a:avLst>
              <a:gd name="adj" fmla="val 6667"/>
            </a:avLst>
          </a:prstGeom>
          <a:solidFill>
            <a:srgbClr val="16305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6118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Severe Muscular Dystrophy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95935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Wasting and weakness of muscles, appears in certain newborns. This is a lethal mutation.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160520" cy="3886200"/>
          </a:xfrm>
          <a:prstGeom prst="roundRect">
            <a:avLst>
              <a:gd name="adj" fmla="val 2824"/>
            </a:avLst>
          </a:prstGeom>
          <a:solidFill>
            <a:srgbClr val="122333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51560"/>
            <a:ext cx="4160520" cy="621792"/>
          </a:xfrm>
          <a:prstGeom prst="roundRect">
            <a:avLst>
              <a:gd name="adj" fmla="val 17647"/>
            </a:avLst>
          </a:prstGeom>
          <a:solidFill>
            <a:srgbClr val="06D6A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463040"/>
            <a:ext cx="4160520" cy="21031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051560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Beneficial Mutations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92040" y="1737360"/>
            <a:ext cx="3886200" cy="502920"/>
          </a:xfrm>
          <a:prstGeom prst="roundRect">
            <a:avLst>
              <a:gd name="adj" fmla="val 12727"/>
            </a:avLst>
          </a:prstGeom>
          <a:solidFill>
            <a:srgbClr val="06D6A0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737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appearance of new desirable traits, naturally or through human intervention.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331720"/>
            <a:ext cx="3886200" cy="749808"/>
          </a:xfrm>
          <a:prstGeom prst="roundRect">
            <a:avLst>
              <a:gd name="adj" fmla="val 9756"/>
            </a:avLst>
          </a:prstGeom>
          <a:solidFill>
            <a:srgbClr val="16305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3591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Skin Colour Adaptation (Spontaneous)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263347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skin in cold-country individuals helps them absorb vitamin D better.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3154680"/>
            <a:ext cx="3886200" cy="749808"/>
          </a:xfrm>
          <a:prstGeom prst="roundRect">
            <a:avLst>
              <a:gd name="adj" fmla="val 9756"/>
            </a:avLst>
          </a:prstGeom>
          <a:solidFill>
            <a:srgbClr val="16305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18211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Seedless Fruits (Induced)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0" y="345643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of seedless lemons and other fruits through human intervention.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977640"/>
            <a:ext cx="3886200" cy="749808"/>
          </a:xfrm>
          <a:prstGeom prst="roundRect">
            <a:avLst>
              <a:gd name="adj" fmla="val 9756"/>
            </a:avLst>
          </a:prstGeom>
          <a:solidFill>
            <a:srgbClr val="16305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400507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Wheat Rust Resistance (Induced)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427939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 plants made resistant to wheat rust disease.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Application — Lactose Tolerance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1630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83210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Lactose Tolerance Mutation 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natural (beneficial spontaneous) mutation that allows lactose sugar in milk and dairy products to be converted into simpler sugars for easier body absorption.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2084832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EF233C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1031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Lactose Intolerance Symptoms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Cramping · Nausea · Other painful symptoms when consuming dairy.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09067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Dairy Products &amp; Their Alternatives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493008"/>
            <a:ext cx="2029968" cy="502920"/>
          </a:xfrm>
          <a:prstGeom prst="roundRect">
            <a:avLst>
              <a:gd name="adj" fmla="val 14545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349300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Butter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00507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4279392"/>
            <a:ext cx="2029968" cy="502920"/>
          </a:xfrm>
          <a:prstGeom prst="roundRect">
            <a:avLst>
              <a:gd name="adj" fmla="val 14545"/>
            </a:avLst>
          </a:prstGeom>
          <a:solidFill>
            <a:srgbClr val="06D6A0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279392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Olive Oil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50592" y="3493008"/>
            <a:ext cx="2029968" cy="502920"/>
          </a:xfrm>
          <a:prstGeom prst="roundRect">
            <a:avLst>
              <a:gd name="adj" fmla="val 14545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450592" y="349300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Milk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90672" y="400507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450592" y="4279392"/>
            <a:ext cx="2029968" cy="502920"/>
          </a:xfrm>
          <a:prstGeom prst="roundRect">
            <a:avLst>
              <a:gd name="adj" fmla="val 14545"/>
            </a:avLst>
          </a:prstGeom>
          <a:solidFill>
            <a:srgbClr val="06D6A0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450592" y="4279392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Soya Milk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26864" y="3493008"/>
            <a:ext cx="2029968" cy="502920"/>
          </a:xfrm>
          <a:prstGeom prst="roundRect">
            <a:avLst>
              <a:gd name="adj" fmla="val 14545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626864" y="349300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Coffee Creamer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66944" y="400507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26864" y="4279392"/>
            <a:ext cx="2029968" cy="502920"/>
          </a:xfrm>
          <a:prstGeom prst="roundRect">
            <a:avLst>
              <a:gd name="adj" fmla="val 14545"/>
            </a:avLst>
          </a:prstGeom>
          <a:solidFill>
            <a:srgbClr val="06D6A0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626864" y="4279392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Almond Milk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03136" y="3493008"/>
            <a:ext cx="2029968" cy="502920"/>
          </a:xfrm>
          <a:prstGeom prst="roundRect">
            <a:avLst>
              <a:gd name="adj" fmla="val 14545"/>
            </a:avLst>
          </a:prstGeom>
          <a:solidFill>
            <a:srgbClr val="EF233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03136" y="3493008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Milk Chocolate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43216" y="4005072"/>
            <a:ext cx="749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03136" y="4279392"/>
            <a:ext cx="2029968" cy="502920"/>
          </a:xfrm>
          <a:prstGeom prst="roundRect">
            <a:avLst>
              <a:gd name="adj" fmla="val 14545"/>
            </a:avLst>
          </a:prstGeom>
          <a:solidFill>
            <a:srgbClr val="06D6A0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803136" y="4279392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Dark Chocolate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Key Concepts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1828800"/>
            <a:ext cx="2194560" cy="118872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52400" dist="50800" dir="27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828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3200400" cy="411480"/>
          </a:xfrm>
          <a:prstGeom prst="line">
            <a:avLst/>
          </a:prstGeom>
          <a:noFill/>
          <a:ln w="9525">
            <a:solidFill>
              <a:srgbClr val="9B5DE5">
                <a:alpha val="50000"/>
              </a:srgbClr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1440" y="10515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9B5DE5">
              <a:alpha val="25000"/>
            </a:srgbClr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5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Chromosomes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B5D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DNA Structure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3108960"/>
            <a:ext cx="3200400" cy="-685800"/>
          </a:xfrm>
          <a:prstGeom prst="line">
            <a:avLst/>
          </a:prstGeom>
          <a:noFill/>
          <a:ln w="9525">
            <a:solidFill>
              <a:srgbClr val="F4A261">
                <a:alpha val="50000"/>
              </a:srgbClr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1440" y="292608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F4A261">
              <a:alpha val="25000"/>
            </a:srgbClr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" y="2926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Hereditary Traits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0" y="2011680"/>
            <a:ext cx="-914400" cy="411480"/>
          </a:xfrm>
          <a:prstGeom prst="line">
            <a:avLst/>
          </a:prstGeom>
          <a:noFill/>
          <a:ln w="9525">
            <a:solidFill>
              <a:srgbClr val="90E0EF">
                <a:alpha val="50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675120" y="10515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90E0EF">
              <a:alpha val="25000"/>
            </a:srgbClr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Spontaneous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3108960"/>
            <a:ext cx="-914400" cy="-685800"/>
          </a:xfrm>
          <a:prstGeom prst="line">
            <a:avLst/>
          </a:prstGeom>
          <a:noFill/>
          <a:ln w="9525">
            <a:solidFill>
              <a:srgbClr val="FFD166">
                <a:alpha val="50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675120" y="292608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FFD166">
              <a:alpha val="25000"/>
            </a:srgbClr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2926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Induced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3291840"/>
            <a:ext cx="457200" cy="-868680"/>
          </a:xfrm>
          <a:prstGeom prst="line">
            <a:avLst/>
          </a:prstGeom>
          <a:noFill/>
          <a:ln w="9525">
            <a:solidFill>
              <a:srgbClr val="EF233C">
                <a:alpha val="50000"/>
              </a:srgbClr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337560" y="40233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EF233C">
              <a:alpha val="25000"/>
            </a:srgbClr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4023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Harmful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3291840"/>
            <a:ext cx="-457200" cy="-868680"/>
          </a:xfrm>
          <a:prstGeom prst="line">
            <a:avLst/>
          </a:prstGeom>
          <a:noFill/>
          <a:ln w="9525">
            <a:solidFill>
              <a:srgbClr val="06D6A0">
                <a:alpha val="50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669280" y="402336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6D6A0">
              <a:alpha val="25000"/>
            </a:srgbClr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5000" y="4023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| Unit 3: Environment and Genetics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Genetic Traits and Mutations</dc:title>
  <dc:subject>PptxGenJS Presentation</dc:subject>
  <dc:creator>PptxGenJS</dc:creator>
  <cp:lastModifiedBy>PptxGenJS</cp:lastModifiedBy>
  <cp:revision>1</cp:revision>
  <dcterms:created xsi:type="dcterms:W3CDTF">2026-06-17T09:33:29Z</dcterms:created>
  <dcterms:modified xsi:type="dcterms:W3CDTF">2026-06-17T09:33:29Z</dcterms:modified>
</cp:coreProperties>
</file>